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sldIdLst>
    <p:sldId id="256" r:id="rId2"/>
    <p:sldId id="259" r:id="rId3"/>
    <p:sldId id="262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4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pt-BR"/>
              <a:t>Principais fatores de risco por importância</a:t>
            </a:r>
          </a:p>
        </c:rich>
      </c:tx>
      <c:layout>
        <c:manualLayout>
          <c:xMode val="edge"/>
          <c:yMode val="edge"/>
          <c:x val="0.2622349025202092"/>
          <c:y val="1.45719473261968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4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bg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Planilha1!$B$2</c:f>
              <c:strCache>
                <c:ptCount val="1"/>
                <c:pt idx="0">
                  <c:v>Baixo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Planilha1!$A$3:$A$7</c:f>
              <c:strCache>
                <c:ptCount val="5"/>
                <c:pt idx="0">
                  <c:v>Pouca ou nenhuma documentação</c:v>
                </c:pt>
                <c:pt idx="1">
                  <c:v>Orçamento insuficiente ou instável</c:v>
                </c:pt>
                <c:pt idx="2">
                  <c:v>Entendimento limitado do sistema a ser mantido</c:v>
                </c:pt>
                <c:pt idx="3">
                  <c:v>Fluxo contínuo de mudanças de requisitos (requisitos instáveis)</c:v>
                </c:pt>
                <c:pt idx="4">
                  <c:v>Baixa qualidade do sistema a ser mantido</c:v>
                </c:pt>
              </c:strCache>
            </c:strRef>
          </c:cat>
          <c:val>
            <c:numRef>
              <c:f>Planilha1!$B$3:$B$7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58-427E-BE27-F89C774BE2AC}"/>
            </c:ext>
          </c:extLst>
        </c:ser>
        <c:ser>
          <c:idx val="1"/>
          <c:order val="1"/>
          <c:tx>
            <c:strRef>
              <c:f>Planilha1!$C$2</c:f>
              <c:strCache>
                <c:ptCount val="1"/>
                <c:pt idx="0">
                  <c:v>Médio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Planilha1!$A$3:$A$7</c:f>
              <c:strCache>
                <c:ptCount val="5"/>
                <c:pt idx="0">
                  <c:v>Pouca ou nenhuma documentação</c:v>
                </c:pt>
                <c:pt idx="1">
                  <c:v>Orçamento insuficiente ou instável</c:v>
                </c:pt>
                <c:pt idx="2">
                  <c:v>Entendimento limitado do sistema a ser mantido</c:v>
                </c:pt>
                <c:pt idx="3">
                  <c:v>Fluxo contínuo de mudanças de requisitos (requisitos instáveis)</c:v>
                </c:pt>
                <c:pt idx="4">
                  <c:v>Baixa qualidade do sistema a ser mantido</c:v>
                </c:pt>
              </c:strCache>
            </c:strRef>
          </c:cat>
          <c:val>
            <c:numRef>
              <c:f>Planilha1!$C$3:$C$7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58-427E-BE27-F89C774BE2AC}"/>
            </c:ext>
          </c:extLst>
        </c:ser>
        <c:ser>
          <c:idx val="2"/>
          <c:order val="2"/>
          <c:tx>
            <c:strRef>
              <c:f>Planilha1!$D$2</c:f>
              <c:strCache>
                <c:ptCount val="1"/>
                <c:pt idx="0">
                  <c:v>Alto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Planilha1!$A$3:$A$7</c:f>
              <c:strCache>
                <c:ptCount val="5"/>
                <c:pt idx="0">
                  <c:v>Pouca ou nenhuma documentação</c:v>
                </c:pt>
                <c:pt idx="1">
                  <c:v>Orçamento insuficiente ou instável</c:v>
                </c:pt>
                <c:pt idx="2">
                  <c:v>Entendimento limitado do sistema a ser mantido</c:v>
                </c:pt>
                <c:pt idx="3">
                  <c:v>Fluxo contínuo de mudanças de requisitos (requisitos instáveis)</c:v>
                </c:pt>
                <c:pt idx="4">
                  <c:v>Baixa qualidade do sistema a ser mantido</c:v>
                </c:pt>
              </c:strCache>
            </c:strRef>
          </c:cat>
          <c:val>
            <c:numRef>
              <c:f>Planilha1!$D$3:$D$7</c:f>
              <c:numCache>
                <c:formatCode>General</c:formatCode>
                <c:ptCount val="5"/>
                <c:pt idx="0">
                  <c:v>16</c:v>
                </c:pt>
                <c:pt idx="1">
                  <c:v>12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58-427E-BE27-F89C774BE2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476508000"/>
        <c:axId val="476510296"/>
      </c:barChart>
      <c:catAx>
        <c:axId val="4765080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Fatores de risco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pt-BR"/>
          </a:p>
        </c:txPr>
        <c:crossAx val="476510296"/>
        <c:crosses val="autoZero"/>
        <c:auto val="1"/>
        <c:lblAlgn val="ctr"/>
        <c:lblOffset val="100"/>
        <c:noMultiLvlLbl val="0"/>
      </c:catAx>
      <c:valAx>
        <c:axId val="476510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Grau de importância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pt-BR"/>
          </a:p>
        </c:txPr>
        <c:crossAx val="47650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bg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="0" cap="none" spc="0">
          <a:ln w="0"/>
          <a:solidFill>
            <a:schemeClr val="tx1"/>
          </a:solidFill>
          <a:effectLst>
            <a:outerShdw blurRad="38100" dist="19050" dir="2700000" algn="tl" rotWithShape="0">
              <a:schemeClr val="bg1">
                <a:alpha val="40000"/>
              </a:schemeClr>
            </a:outerShdw>
          </a:effectLst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107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693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45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30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168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7830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840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091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059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610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08925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360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394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035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708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61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74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rise.upm.es/htdocs/rearviewmirror/conferencias/jiisic04/Papers/2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4AAEE-4C56-48DE-BA82-068F63DD3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634091"/>
            <a:ext cx="8791575" cy="2387600"/>
          </a:xfrm>
        </p:spPr>
        <p:txBody>
          <a:bodyPr/>
          <a:lstStyle/>
          <a:p>
            <a:pPr algn="ctr"/>
            <a:r>
              <a:rPr lang="pt-BR" dirty="0"/>
              <a:t>Priorização de Riscos para Manutenção de Software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B7FF8A-BB11-4C1F-9714-DF6F43B9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6030119"/>
            <a:ext cx="8791575" cy="827881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BRENDA lee - Eduardo aguiar – FERNANDO KIALA</a:t>
            </a:r>
          </a:p>
        </p:txBody>
      </p:sp>
    </p:spTree>
    <p:extLst>
      <p:ext uri="{BB962C8B-B14F-4D97-AF65-F5344CB8AC3E}">
        <p14:creationId xmlns:p14="http://schemas.microsoft.com/office/powerpoint/2010/main" val="414676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1BE17D2-1C54-4D52-9AE6-C40622DE652B}"/>
              </a:ext>
            </a:extLst>
          </p:cNvPr>
          <p:cNvSpPr/>
          <p:nvPr/>
        </p:nvSpPr>
        <p:spPr>
          <a:xfrm>
            <a:off x="661333" y="1617722"/>
            <a:ext cx="10869334" cy="4236098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8E2808-85A6-4436-B047-525C9442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Importância na prática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4808184-01F9-4FC1-8484-54F4799A8561}"/>
              </a:ext>
            </a:extLst>
          </p:cNvPr>
          <p:cNvSpPr txBox="1"/>
          <p:nvPr/>
        </p:nvSpPr>
        <p:spPr>
          <a:xfrm>
            <a:off x="893923" y="2150722"/>
            <a:ext cx="49539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Gerenciamento</a:t>
            </a:r>
            <a:r>
              <a:rPr lang="pt-BR" sz="2400" b="1" dirty="0"/>
              <a:t> </a:t>
            </a:r>
            <a:r>
              <a:rPr lang="pt-BR" sz="2000" b="1" dirty="0"/>
              <a:t>de riscos em manutenção </a:t>
            </a:r>
          </a:p>
          <a:p>
            <a:pPr>
              <a:buClr>
                <a:schemeClr val="tx2"/>
              </a:buClr>
            </a:pPr>
            <a:r>
              <a:rPr lang="pt-BR" sz="2000" b="1" dirty="0"/>
              <a:t>de software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E513748-F55A-4A85-8FAD-CA47C04DAE83}"/>
              </a:ext>
            </a:extLst>
          </p:cNvPr>
          <p:cNvCxnSpPr/>
          <p:nvPr/>
        </p:nvCxnSpPr>
        <p:spPr>
          <a:xfrm>
            <a:off x="6080433" y="1990861"/>
            <a:ext cx="0" cy="3254928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20A8BE-D00D-4940-9DFF-0EE1C00692D8}"/>
              </a:ext>
            </a:extLst>
          </p:cNvPr>
          <p:cNvSpPr txBox="1"/>
          <p:nvPr/>
        </p:nvSpPr>
        <p:spPr>
          <a:xfrm>
            <a:off x="6469286" y="2169065"/>
            <a:ext cx="443333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Modelo de maturidade</a:t>
            </a: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lang="pt-BR" sz="2000" b="1" dirty="0"/>
          </a:p>
          <a:p>
            <a:pPr lvl="1">
              <a:buClr>
                <a:schemeClr val="tx2"/>
              </a:buClr>
            </a:pPr>
            <a:r>
              <a:rPr lang="pt-BR" sz="2000" dirty="0"/>
              <a:t>SEI (Software Engeneering Institute)</a:t>
            </a:r>
          </a:p>
          <a:p>
            <a:pPr lvl="1">
              <a:buClr>
                <a:schemeClr val="tx2"/>
              </a:buClr>
            </a:pPr>
            <a:r>
              <a:rPr lang="pt-BR" sz="2000" dirty="0"/>
              <a:t>CMMI (Capability Model Integration)</a:t>
            </a:r>
          </a:p>
          <a:p>
            <a:endParaRPr lang="pt-BR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295381-686F-4457-B779-EE2CE6A1243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51538" y="2759615"/>
            <a:ext cx="3275023" cy="272918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02597E9-2CF4-4F76-953B-8A5C5C42BB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06459" y="3429000"/>
            <a:ext cx="2187357" cy="19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27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1BE17D2-1C54-4D52-9AE6-C40622DE652B}"/>
              </a:ext>
            </a:extLst>
          </p:cNvPr>
          <p:cNvSpPr/>
          <p:nvPr/>
        </p:nvSpPr>
        <p:spPr>
          <a:xfrm>
            <a:off x="661333" y="1673705"/>
            <a:ext cx="5560949" cy="3476797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8E2808-85A6-4436-B047-525C9442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ABORDAGENS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4808184-01F9-4FC1-8484-54F4799A8561}"/>
              </a:ext>
            </a:extLst>
          </p:cNvPr>
          <p:cNvSpPr txBox="1"/>
          <p:nvPr/>
        </p:nvSpPr>
        <p:spPr>
          <a:xfrm>
            <a:off x="765433" y="2457965"/>
            <a:ext cx="535274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Gerenciamento de riscos</a:t>
            </a: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lang="pt-BR" sz="2000" dirty="0"/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Processos de identificação e Análise de riscos</a:t>
            </a: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lang="pt-BR" sz="2000" b="1" dirty="0"/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Manutenção de sistema – Atividade crítica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8CD2F62-5B57-4AF7-85C1-55E6E577302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60637" y="1679377"/>
            <a:ext cx="3590593" cy="359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806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DF59CC-7DCD-44B5-A77E-7F70D9005576}"/>
              </a:ext>
            </a:extLst>
          </p:cNvPr>
          <p:cNvSpPr/>
          <p:nvPr/>
        </p:nvSpPr>
        <p:spPr>
          <a:xfrm>
            <a:off x="889233" y="1556320"/>
            <a:ext cx="5905315" cy="3163433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EE9A7B-FC93-4CEF-A100-623CE8A7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FERRAMENTAS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586389-4587-4837-B344-6E3AFA55B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546" y="1767679"/>
            <a:ext cx="5737002" cy="3979634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Priorizando riscos para manutenção de software</a:t>
            </a:r>
          </a:p>
          <a:p>
            <a:pPr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Taxonomia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dirty="0"/>
              <a:t>Sistema a ser mantido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dirty="0"/>
              <a:t>Gerência de projeto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dirty="0"/>
              <a:t>Processo de software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dirty="0"/>
              <a:t>Problemas de pessoal</a:t>
            </a:r>
          </a:p>
          <a:p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4EF62CB-0B49-4724-93EA-F1F4CDF638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35185" y="1384182"/>
            <a:ext cx="3468091" cy="346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68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7C3BA6C-E640-442E-92DE-8C442E7CE6EC}"/>
              </a:ext>
            </a:extLst>
          </p:cNvPr>
          <p:cNvSpPr/>
          <p:nvPr/>
        </p:nvSpPr>
        <p:spPr>
          <a:xfrm>
            <a:off x="318052" y="1404728"/>
            <a:ext cx="11474011" cy="5157885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pt-BR" sz="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8E2808-85A6-4436-B047-525C9442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Fatores de riscos classificados como mais importantes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2E10591-2791-4017-B506-C5B073D2C2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2881350"/>
              </p:ext>
            </p:extLst>
          </p:nvPr>
        </p:nvGraphicFramePr>
        <p:xfrm>
          <a:off x="750183" y="1404728"/>
          <a:ext cx="10399050" cy="5157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11982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1DF59CC-7DCD-44B5-A77E-7F70D9005576}"/>
              </a:ext>
            </a:extLst>
          </p:cNvPr>
          <p:cNvSpPr/>
          <p:nvPr/>
        </p:nvSpPr>
        <p:spPr>
          <a:xfrm>
            <a:off x="839612" y="2323849"/>
            <a:ext cx="10512775" cy="3072073"/>
          </a:xfrm>
          <a:prstGeom prst="round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EE9A7B-FC93-4CEF-A100-623CE8A7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3568"/>
            <a:ext cx="9905998" cy="1478570"/>
          </a:xfrm>
        </p:spPr>
        <p:txBody>
          <a:bodyPr/>
          <a:lstStyle/>
          <a:p>
            <a:pPr algn="ctr"/>
            <a:r>
              <a:rPr lang="pt-BR" dirty="0"/>
              <a:t>OBJETIVO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586389-4587-4837-B344-6E3AFA55B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931" y="2788354"/>
            <a:ext cx="9905997" cy="1012843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sz="2000" b="1" dirty="0"/>
              <a:t>Conclusão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b="1" dirty="0"/>
              <a:t> Proposta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pt-BR" b="1" dirty="0"/>
              <a:t> Resultado</a:t>
            </a:r>
          </a:p>
          <a:p>
            <a:pPr lvl="1"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lang="pt-BR" b="1" dirty="0"/>
          </a:p>
          <a:p>
            <a:pPr marL="0" indent="0">
              <a:buClr>
                <a:schemeClr val="tx2"/>
              </a:buClr>
              <a:buNone/>
            </a:pPr>
            <a:r>
              <a:rPr lang="pt-BR" sz="2000" dirty="0">
                <a:hlinkClick r:id="rId2"/>
              </a:rPr>
              <a:t>http://www.grise.upm.es/htdocs/rearviewmirror/conferencias/jiisic04/Papers/22.pdf</a:t>
            </a:r>
            <a:endParaRPr lang="pt-BR" sz="2000" b="1" dirty="0"/>
          </a:p>
          <a:p>
            <a:pPr marL="0" indent="0">
              <a:buClr>
                <a:schemeClr val="tx2"/>
              </a:buClr>
              <a:buNone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30056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358</TotalTime>
  <Words>128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Trebuchet MS</vt:lpstr>
      <vt:lpstr>Tw Cen MT</vt:lpstr>
      <vt:lpstr>Circuito</vt:lpstr>
      <vt:lpstr>Priorização de Riscos para Manutenção de Software </vt:lpstr>
      <vt:lpstr>Importância na prática</vt:lpstr>
      <vt:lpstr>ABORDAGENS</vt:lpstr>
      <vt:lpstr>FERRAMENTAS</vt:lpstr>
      <vt:lpstr>Fatores de riscos classificados como mais importantes</vt:lpstr>
      <vt:lpstr>OBJETIVO DO ARTIGO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Priorização de Riscos para Manutenção de Software</dc:title>
  <dc:creator>EDUARDO DE PAULA AGUIAR</dc:creator>
  <cp:lastModifiedBy>EDUARDO DE PAULA AGUIAR</cp:lastModifiedBy>
  <cp:revision>30</cp:revision>
  <dcterms:created xsi:type="dcterms:W3CDTF">2018-09-22T13:26:55Z</dcterms:created>
  <dcterms:modified xsi:type="dcterms:W3CDTF">2018-10-19T00:07:29Z</dcterms:modified>
</cp:coreProperties>
</file>